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3"/>
  </p:notesMasterIdLst>
  <p:sldIdLst>
    <p:sldId id="256" r:id="rId5"/>
    <p:sldId id="257" r:id="rId6"/>
    <p:sldId id="258" r:id="rId7"/>
    <p:sldId id="260" r:id="rId8"/>
    <p:sldId id="259" r:id="rId9"/>
    <p:sldId id="262" r:id="rId10"/>
    <p:sldId id="263" r:id="rId11"/>
    <p:sldId id="264"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19FD1A-D967-4627-8AE2-2AD7B2055F16}" v="3" dt="2025-12-01T18:26:26.082"/>
    <p1510:client id="{7810E8D2-853A-D9B9-F9A5-1BD0082AE479}" v="3" dt="2025-12-02T13:34:12.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1383" autoAdjust="0"/>
  </p:normalViewPr>
  <p:slideViewPr>
    <p:cSldViewPr snapToGrid="0" snapToObjects="1">
      <p:cViewPr varScale="1">
        <p:scale>
          <a:sx n="97" d="100"/>
          <a:sy n="97" d="100"/>
        </p:scale>
        <p:origin x="2742"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ches Gambim, Rafael" userId="S::rsanche3@rockets.utoledo.edu::d588d2cd-fcae-4693-a4f2-69a3c12cdb37" providerId="AD" clId="Web-{7810E8D2-853A-D9B9-F9A5-1BD0082AE479}"/>
    <pc:docChg chg="delSld modSld">
      <pc:chgData name="Sanches Gambim, Rafael" userId="S::rsanche3@rockets.utoledo.edu::d588d2cd-fcae-4693-a4f2-69a3c12cdb37" providerId="AD" clId="Web-{7810E8D2-853A-D9B9-F9A5-1BD0082AE479}" dt="2025-12-02T13:34:12.026" v="1"/>
      <pc:docMkLst>
        <pc:docMk/>
      </pc:docMkLst>
      <pc:sldChg chg="addSp modSp">
        <pc:chgData name="Sanches Gambim, Rafael" userId="S::rsanche3@rockets.utoledo.edu::d588d2cd-fcae-4693-a4f2-69a3c12cdb37" providerId="AD" clId="Web-{7810E8D2-853A-D9B9-F9A5-1BD0082AE479}" dt="2025-12-02T13:34:01.901" v="0"/>
        <pc:sldMkLst>
          <pc:docMk/>
          <pc:sldMk cId="0" sldId="259"/>
        </pc:sldMkLst>
        <pc:picChg chg="add mod">
          <ac:chgData name="Sanches Gambim, Rafael" userId="S::rsanche3@rockets.utoledo.edu::d588d2cd-fcae-4693-a4f2-69a3c12cdb37" providerId="AD" clId="Web-{7810E8D2-853A-D9B9-F9A5-1BD0082AE479}" dt="2025-12-02T13:34:01.901" v="0"/>
          <ac:picMkLst>
            <pc:docMk/>
            <pc:sldMk cId="0" sldId="259"/>
            <ac:picMk id="4" creationId="{1499B746-263B-AF03-3784-2870D57F8D5D}"/>
          </ac:picMkLst>
        </pc:picChg>
      </pc:sldChg>
      <pc:sldChg chg="del">
        <pc:chgData name="Sanches Gambim, Rafael" userId="S::rsanche3@rockets.utoledo.edu::d588d2cd-fcae-4693-a4f2-69a3c12cdb37" providerId="AD" clId="Web-{7810E8D2-853A-D9B9-F9A5-1BD0082AE479}" dt="2025-12-02T13:34:12.026" v="1"/>
        <pc:sldMkLst>
          <pc:docMk/>
          <pc:sldMk cId="0"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6C8A5-6DAC-43BE-9449-70B37B79238B}" type="datetimeFigureOut">
              <a:rPr lang="en-US" smtClean="0"/>
              <a:t>12/2/2025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2200E-8616-4180-A32B-09C4E04B5B88}" type="slidenum">
              <a:rPr lang="en-US" smtClean="0"/>
              <a:t>‹#›</a:t>
            </a:fld>
            <a:endParaRPr lang="en-US"/>
          </a:p>
        </p:txBody>
      </p:sp>
    </p:spTree>
    <p:extLst>
      <p:ext uri="{BB962C8B-B14F-4D97-AF65-F5344CB8AC3E}">
        <p14:creationId xmlns:p14="http://schemas.microsoft.com/office/powerpoint/2010/main" val="2460975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presenting our implementation of the quantum teleportation protocol using </a:t>
            </a:r>
            <a:r>
              <a:rPr lang="en-US" dirty="0" err="1"/>
              <a:t>Qiskit</a:t>
            </a:r>
            <a:r>
              <a:rPr lang="en-US" dirty="0"/>
              <a:t>. We simulated teleporting four different qubit states and compared ideal simulation results with real IBM quantum hardware. Our team is Aiden, Daniel, and Rafael.”</a:t>
            </a:r>
          </a:p>
        </p:txBody>
      </p:sp>
      <p:sp>
        <p:nvSpPr>
          <p:cNvPr id="4" name="Slide Number Placeholder 3"/>
          <p:cNvSpPr>
            <a:spLocks noGrp="1"/>
          </p:cNvSpPr>
          <p:nvPr>
            <p:ph type="sldNum" sz="quarter" idx="5"/>
          </p:nvPr>
        </p:nvSpPr>
        <p:spPr/>
        <p:txBody>
          <a:bodyPr/>
          <a:lstStyle/>
          <a:p>
            <a:fld id="{1062200E-8616-4180-A32B-09C4E04B5B88}" type="slidenum">
              <a:rPr lang="en-US" smtClean="0"/>
              <a:t>1</a:t>
            </a:fld>
            <a:endParaRPr lang="en-US"/>
          </a:p>
        </p:txBody>
      </p:sp>
    </p:spTree>
    <p:extLst>
      <p:ext uri="{BB962C8B-B14F-4D97-AF65-F5344CB8AC3E}">
        <p14:creationId xmlns:p14="http://schemas.microsoft.com/office/powerpoint/2010/main" val="70869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teleportation moves </a:t>
            </a:r>
            <a:r>
              <a:rPr lang="en-US" i="1" dirty="0"/>
              <a:t>information</a:t>
            </a:r>
            <a:r>
              <a:rPr lang="en-US" dirty="0"/>
              <a:t>, not matter. Alice has an unknown qubit, and she shares an entangled pair with Bob. After measuring her qubits, she sends two classical bits to Bob. With those, Bob applies the correct operations and ends up with the original state. Alice’s qubit is destroyed in the process, so the no-cloning theorem isn’t violated.”</a:t>
            </a:r>
          </a:p>
        </p:txBody>
      </p:sp>
      <p:sp>
        <p:nvSpPr>
          <p:cNvPr id="4" name="Slide Number Placeholder 3"/>
          <p:cNvSpPr>
            <a:spLocks noGrp="1"/>
          </p:cNvSpPr>
          <p:nvPr>
            <p:ph type="sldNum" sz="quarter" idx="5"/>
          </p:nvPr>
        </p:nvSpPr>
        <p:spPr/>
        <p:txBody>
          <a:bodyPr/>
          <a:lstStyle/>
          <a:p>
            <a:fld id="{1062200E-8616-4180-A32B-09C4E04B5B88}" type="slidenum">
              <a:rPr lang="en-US" smtClean="0"/>
              <a:t>2</a:t>
            </a:fld>
            <a:endParaRPr lang="en-US"/>
          </a:p>
        </p:txBody>
      </p:sp>
    </p:spTree>
    <p:extLst>
      <p:ext uri="{BB962C8B-B14F-4D97-AF65-F5344CB8AC3E}">
        <p14:creationId xmlns:p14="http://schemas.microsoft.com/office/powerpoint/2010/main" val="4045675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focused on fidelity — how close the teleported qubit is to the original. We tested four standard states. We also wanted to see how big the gap is between perfect simulated teleportation and running the same circuit on an actual IBM quantum processor.”</a:t>
            </a:r>
          </a:p>
        </p:txBody>
      </p:sp>
      <p:sp>
        <p:nvSpPr>
          <p:cNvPr id="4" name="Slide Number Placeholder 3"/>
          <p:cNvSpPr>
            <a:spLocks noGrp="1"/>
          </p:cNvSpPr>
          <p:nvPr>
            <p:ph type="sldNum" sz="quarter" idx="5"/>
          </p:nvPr>
        </p:nvSpPr>
        <p:spPr/>
        <p:txBody>
          <a:bodyPr/>
          <a:lstStyle/>
          <a:p>
            <a:fld id="{1062200E-8616-4180-A32B-09C4E04B5B88}" type="slidenum">
              <a:rPr lang="en-US" smtClean="0"/>
              <a:t>3</a:t>
            </a:fld>
            <a:endParaRPr lang="en-US"/>
          </a:p>
        </p:txBody>
      </p:sp>
    </p:spTree>
    <p:extLst>
      <p:ext uri="{BB962C8B-B14F-4D97-AF65-F5344CB8AC3E}">
        <p14:creationId xmlns:p14="http://schemas.microsoft.com/office/powerpoint/2010/main" val="4021885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modular Python implementation in </a:t>
            </a:r>
            <a:r>
              <a:rPr lang="en-US" dirty="0" err="1"/>
              <a:t>Qiskit</a:t>
            </a:r>
            <a:r>
              <a:rPr lang="en-US" dirty="0"/>
              <a:t>. Each input state had its own prep function. The teleportation protocol used three qubits: the input, plus a Bell pair. After running the circuit, we extracted Bob’s final qubit using a partial trace and compared it to the ideal version of the same state using </a:t>
            </a:r>
            <a:r>
              <a:rPr lang="en-US" dirty="0" err="1"/>
              <a:t>Qiskit’s</a:t>
            </a:r>
            <a:r>
              <a:rPr lang="en-US" dirty="0"/>
              <a:t> fidelity function.”</a:t>
            </a:r>
          </a:p>
        </p:txBody>
      </p:sp>
      <p:sp>
        <p:nvSpPr>
          <p:cNvPr id="4" name="Slide Number Placeholder 3"/>
          <p:cNvSpPr>
            <a:spLocks noGrp="1"/>
          </p:cNvSpPr>
          <p:nvPr>
            <p:ph type="sldNum" sz="quarter" idx="5"/>
          </p:nvPr>
        </p:nvSpPr>
        <p:spPr/>
        <p:txBody>
          <a:bodyPr/>
          <a:lstStyle/>
          <a:p>
            <a:fld id="{1062200E-8616-4180-A32B-09C4E04B5B88}" type="slidenum">
              <a:rPr lang="en-US" smtClean="0"/>
              <a:t>4</a:t>
            </a:fld>
            <a:endParaRPr lang="en-US"/>
          </a:p>
        </p:txBody>
      </p:sp>
    </p:spTree>
    <p:extLst>
      <p:ext uri="{BB962C8B-B14F-4D97-AF65-F5344CB8AC3E}">
        <p14:creationId xmlns:p14="http://schemas.microsoft.com/office/powerpoint/2010/main" val="1188743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state goes on q0. To create the shared resource, we put q1 into superposition and entangle it with q2. Alice then entangles q0 with q1 using CNOT and Hadamard — that’s the Bell measurement stage. Instead of literal classical measurement, we used equivalent unitary gates to create the corrected state coherently. In an ideal environment, this is mathematically identical.”</a:t>
            </a:r>
          </a:p>
        </p:txBody>
      </p:sp>
      <p:sp>
        <p:nvSpPr>
          <p:cNvPr id="4" name="Slide Number Placeholder 3"/>
          <p:cNvSpPr>
            <a:spLocks noGrp="1"/>
          </p:cNvSpPr>
          <p:nvPr>
            <p:ph type="sldNum" sz="quarter" idx="5"/>
          </p:nvPr>
        </p:nvSpPr>
        <p:spPr/>
        <p:txBody>
          <a:bodyPr/>
          <a:lstStyle/>
          <a:p>
            <a:fld id="{1062200E-8616-4180-A32B-09C4E04B5B88}" type="slidenum">
              <a:rPr lang="en-US" smtClean="0"/>
              <a:t>5</a:t>
            </a:fld>
            <a:endParaRPr lang="en-US"/>
          </a:p>
        </p:txBody>
      </p:sp>
    </p:spTree>
    <p:extLst>
      <p:ext uri="{BB962C8B-B14F-4D97-AF65-F5344CB8AC3E}">
        <p14:creationId xmlns:p14="http://schemas.microsoft.com/office/powerpoint/2010/main" val="4199013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ran the same experiment on IBM’s real hardware, fidelity tanked. Every state dropped to around 0.50. The hardware noise completely overwhelms the protocol. Teleportation uses several two-qubit gates — those are some of the noisiest operations on current devices. The consistent 0.5 fidelity across all four states shows that the limiting factor is hardware noise, not the state being teleported.”</a:t>
            </a:r>
          </a:p>
        </p:txBody>
      </p:sp>
      <p:sp>
        <p:nvSpPr>
          <p:cNvPr id="4" name="Slide Number Placeholder 3"/>
          <p:cNvSpPr>
            <a:spLocks noGrp="1"/>
          </p:cNvSpPr>
          <p:nvPr>
            <p:ph type="sldNum" sz="quarter" idx="5"/>
          </p:nvPr>
        </p:nvSpPr>
        <p:spPr/>
        <p:txBody>
          <a:bodyPr/>
          <a:lstStyle/>
          <a:p>
            <a:fld id="{1062200E-8616-4180-A32B-09C4E04B5B88}" type="slidenum">
              <a:rPr lang="en-US" smtClean="0"/>
              <a:t>7</a:t>
            </a:fld>
            <a:endParaRPr lang="en-US"/>
          </a:p>
        </p:txBody>
      </p:sp>
    </p:spTree>
    <p:extLst>
      <p:ext uri="{BB962C8B-B14F-4D97-AF65-F5344CB8AC3E}">
        <p14:creationId xmlns:p14="http://schemas.microsoft.com/office/powerpoint/2010/main" val="1248440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contrast highlights the gap between theoretical teleportation and hardware reality. The protocol itself doesn’t care what state you teleport — it works perfectly. The problem is that today’s quantum processors just aren’t reliable enough, especially for circuits involving multiple entangling gates.”</a:t>
            </a:r>
          </a:p>
        </p:txBody>
      </p:sp>
      <p:sp>
        <p:nvSpPr>
          <p:cNvPr id="4" name="Slide Number Placeholder 3"/>
          <p:cNvSpPr>
            <a:spLocks noGrp="1"/>
          </p:cNvSpPr>
          <p:nvPr>
            <p:ph type="sldNum" sz="quarter" idx="5"/>
          </p:nvPr>
        </p:nvSpPr>
        <p:spPr/>
        <p:txBody>
          <a:bodyPr/>
          <a:lstStyle/>
          <a:p>
            <a:fld id="{1062200E-8616-4180-A32B-09C4E04B5B88}" type="slidenum">
              <a:rPr lang="en-US" smtClean="0"/>
              <a:t>8</a:t>
            </a:fld>
            <a:endParaRPr lang="en-US"/>
          </a:p>
        </p:txBody>
      </p:sp>
    </p:spTree>
    <p:extLst>
      <p:ext uri="{BB962C8B-B14F-4D97-AF65-F5344CB8AC3E}">
        <p14:creationId xmlns:p14="http://schemas.microsoft.com/office/powerpoint/2010/main" val="842239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we verified that teleportation behaves exactly as the theory predicts in an ideal environment. But current quantum hardware struggles with it because of noise and limited gate fidelity. As hardware improves, teleportation could become a real communication tool for distributed quantum computing.”</a:t>
            </a:r>
          </a:p>
        </p:txBody>
      </p:sp>
      <p:sp>
        <p:nvSpPr>
          <p:cNvPr id="4" name="Slide Number Placeholder 3"/>
          <p:cNvSpPr>
            <a:spLocks noGrp="1"/>
          </p:cNvSpPr>
          <p:nvPr>
            <p:ph type="sldNum" sz="quarter" idx="5"/>
          </p:nvPr>
        </p:nvSpPr>
        <p:spPr/>
        <p:txBody>
          <a:bodyPr/>
          <a:lstStyle/>
          <a:p>
            <a:fld id="{1062200E-8616-4180-A32B-09C4E04B5B88}" type="slidenum">
              <a:rPr lang="en-US" smtClean="0"/>
              <a:t>9</a:t>
            </a:fld>
            <a:endParaRPr lang="en-US"/>
          </a:p>
        </p:txBody>
      </p:sp>
    </p:spTree>
    <p:extLst>
      <p:ext uri="{BB962C8B-B14F-4D97-AF65-F5344CB8AC3E}">
        <p14:creationId xmlns:p14="http://schemas.microsoft.com/office/powerpoint/2010/main" val="1313553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2444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5BCAD085-E8A6-8845-BD4E-CB4CCA059FC4}" type="datetimeFigureOut">
              <a:rPr lang="en-US" smtClean="0"/>
              <a:t>12/2/2025</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2324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7238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7363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5028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4334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2805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915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27342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7541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1321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50712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678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6158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12/2/2025</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1623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3340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8559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12/2/2025</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81076772"/>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068ACACB-DD9E-4155-84BF-8E4D43DEC1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9144002" cy="6858001"/>
            <a:chOff x="0" y="-1"/>
            <a:chExt cx="12192003" cy="6858001"/>
          </a:xfrm>
        </p:grpSpPr>
        <p:sp useBgFill="1">
          <p:nvSpPr>
            <p:cNvPr id="39" name="Rectangle 38">
              <a:extLst>
                <a:ext uri="{FF2B5EF4-FFF2-40B4-BE49-F238E27FC236}">
                  <a16:creationId xmlns:a16="http://schemas.microsoft.com/office/drawing/2014/main" id="{8A7B0AF6-6256-4262-A76E-47B08EAB9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8034A3B1-2FBE-4771-84C6-797415E99D22}"/>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5" name="Picture 4">
            <a:extLst>
              <a:ext uri="{FF2B5EF4-FFF2-40B4-BE49-F238E27FC236}">
                <a16:creationId xmlns:a16="http://schemas.microsoft.com/office/drawing/2014/main" id="{12A936E0-3116-8711-BA3B-87CF4B88FB73}"/>
              </a:ext>
            </a:extLst>
          </p:cNvPr>
          <p:cNvPicPr>
            <a:picLocks noChangeAspect="1"/>
          </p:cNvPicPr>
          <p:nvPr/>
        </p:nvPicPr>
        <p:blipFill>
          <a:blip r:embed="rId5">
            <a:duotone>
              <a:prstClr val="black"/>
              <a:schemeClr val="accent5">
                <a:tint val="45000"/>
                <a:satMod val="400000"/>
              </a:schemeClr>
            </a:duotone>
            <a:alphaModFix/>
          </a:blip>
          <a:srcRect t="19186" r="-1" b="3868"/>
          <a:stretch>
            <a:fillRect/>
          </a:stretch>
        </p:blipFill>
        <p:spPr>
          <a:xfrm>
            <a:off x="2708" y="10"/>
            <a:ext cx="9141292" cy="6857990"/>
          </a:xfrm>
          <a:prstGeom prst="rect">
            <a:avLst/>
          </a:prstGeom>
        </p:spPr>
      </p:pic>
      <p:grpSp>
        <p:nvGrpSpPr>
          <p:cNvPr id="40" name="Group 39">
            <a:extLst>
              <a:ext uri="{FF2B5EF4-FFF2-40B4-BE49-F238E27FC236}">
                <a16:creationId xmlns:a16="http://schemas.microsoft.com/office/drawing/2014/main" id="{BF3AEE19-128A-4FF8-954B-A9724F42E0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4422" y="2235200"/>
            <a:ext cx="8236546" cy="2396067"/>
            <a:chOff x="605895" y="2235200"/>
            <a:chExt cx="10982062" cy="2396067"/>
          </a:xfrm>
        </p:grpSpPr>
        <p:sp>
          <p:nvSpPr>
            <p:cNvPr id="41" name="Round Diagonal Corner Rectangle 7">
              <a:extLst>
                <a:ext uri="{FF2B5EF4-FFF2-40B4-BE49-F238E27FC236}">
                  <a16:creationId xmlns:a16="http://schemas.microsoft.com/office/drawing/2014/main" id="{80F57FCB-2163-4EF8-B6A7-023F6B877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77AB9C7F-4D09-4E13-BD9A-E5C14E37AFD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42" name="Freeform 32">
                <a:extLst>
                  <a:ext uri="{FF2B5EF4-FFF2-40B4-BE49-F238E27FC236}">
                    <a16:creationId xmlns:a16="http://schemas.microsoft.com/office/drawing/2014/main" id="{043B40A6-216C-4409-942A-16B4141973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43" name="Freeform 33">
                <a:extLst>
                  <a:ext uri="{FF2B5EF4-FFF2-40B4-BE49-F238E27FC236}">
                    <a16:creationId xmlns:a16="http://schemas.microsoft.com/office/drawing/2014/main" id="{6F5ED6F5-BEC7-4798-943B-12105A51781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44" name="Freeform 34">
                <a:extLst>
                  <a:ext uri="{FF2B5EF4-FFF2-40B4-BE49-F238E27FC236}">
                    <a16:creationId xmlns:a16="http://schemas.microsoft.com/office/drawing/2014/main" id="{45C6ABB9-CB59-444A-9A14-96A037BC42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45" name="Freeform 37">
                <a:extLst>
                  <a:ext uri="{FF2B5EF4-FFF2-40B4-BE49-F238E27FC236}">
                    <a16:creationId xmlns:a16="http://schemas.microsoft.com/office/drawing/2014/main" id="{C5F74DA3-506A-4911-BADD-B5DADFA9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46" name="Freeform 35">
                <a:extLst>
                  <a:ext uri="{FF2B5EF4-FFF2-40B4-BE49-F238E27FC236}">
                    <a16:creationId xmlns:a16="http://schemas.microsoft.com/office/drawing/2014/main" id="{364BA096-7428-4C20-ABC8-CEBBC3E6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47" name="Freeform 36">
                <a:extLst>
                  <a:ext uri="{FF2B5EF4-FFF2-40B4-BE49-F238E27FC236}">
                    <a16:creationId xmlns:a16="http://schemas.microsoft.com/office/drawing/2014/main" id="{25CA3B41-F8C1-48AF-B4B0-83A0E662AA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48" name="Freeform 38">
                <a:extLst>
                  <a:ext uri="{FF2B5EF4-FFF2-40B4-BE49-F238E27FC236}">
                    <a16:creationId xmlns:a16="http://schemas.microsoft.com/office/drawing/2014/main" id="{A2E4BFFC-0D72-4691-AC6F-6D446092C8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49" name="Freeform 39">
                <a:extLst>
                  <a:ext uri="{FF2B5EF4-FFF2-40B4-BE49-F238E27FC236}">
                    <a16:creationId xmlns:a16="http://schemas.microsoft.com/office/drawing/2014/main" id="{7E81AA48-AA02-4008-9B21-B1BB05042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0" name="Freeform 40">
                <a:extLst>
                  <a:ext uri="{FF2B5EF4-FFF2-40B4-BE49-F238E27FC236}">
                    <a16:creationId xmlns:a16="http://schemas.microsoft.com/office/drawing/2014/main" id="{08B8F28E-CB03-4B11-8575-F1AB3A12A3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1" name="Rectangle 41">
                <a:extLst>
                  <a:ext uri="{FF2B5EF4-FFF2-40B4-BE49-F238E27FC236}">
                    <a16:creationId xmlns:a16="http://schemas.microsoft.com/office/drawing/2014/main" id="{6F2B917E-B873-4E35-8D18-F116784B501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2" name="Freeform 32">
                <a:extLst>
                  <a:ext uri="{FF2B5EF4-FFF2-40B4-BE49-F238E27FC236}">
                    <a16:creationId xmlns:a16="http://schemas.microsoft.com/office/drawing/2014/main" id="{DA0EBFF7-C330-4AEE-806E-6A2D74542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3" name="Freeform 33">
                <a:extLst>
                  <a:ext uri="{FF2B5EF4-FFF2-40B4-BE49-F238E27FC236}">
                    <a16:creationId xmlns:a16="http://schemas.microsoft.com/office/drawing/2014/main" id="{2A66CF61-D72F-4E03-B74E-4BDD67D1CA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4" name="Freeform 34">
                <a:extLst>
                  <a:ext uri="{FF2B5EF4-FFF2-40B4-BE49-F238E27FC236}">
                    <a16:creationId xmlns:a16="http://schemas.microsoft.com/office/drawing/2014/main" id="{04DE5338-105A-4EB0-8FE2-D41DC2F984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5" name="Freeform 37">
                <a:extLst>
                  <a:ext uri="{FF2B5EF4-FFF2-40B4-BE49-F238E27FC236}">
                    <a16:creationId xmlns:a16="http://schemas.microsoft.com/office/drawing/2014/main" id="{C9A1C85F-5B5B-47FA-8C0C-66F75C274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6" name="Freeform 35">
                <a:extLst>
                  <a:ext uri="{FF2B5EF4-FFF2-40B4-BE49-F238E27FC236}">
                    <a16:creationId xmlns:a16="http://schemas.microsoft.com/office/drawing/2014/main" id="{75F79533-DD24-4E6A-83A1-9E21DF565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7" name="Freeform 36">
                <a:extLst>
                  <a:ext uri="{FF2B5EF4-FFF2-40B4-BE49-F238E27FC236}">
                    <a16:creationId xmlns:a16="http://schemas.microsoft.com/office/drawing/2014/main" id="{376D6142-024F-4BD4-95B7-A6D05EF59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8" name="Freeform 38">
                <a:extLst>
                  <a:ext uri="{FF2B5EF4-FFF2-40B4-BE49-F238E27FC236}">
                    <a16:creationId xmlns:a16="http://schemas.microsoft.com/office/drawing/2014/main" id="{CD28FD54-698D-4BAD-92FC-2897067450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59" name="Freeform 39">
                <a:extLst>
                  <a:ext uri="{FF2B5EF4-FFF2-40B4-BE49-F238E27FC236}">
                    <a16:creationId xmlns:a16="http://schemas.microsoft.com/office/drawing/2014/main" id="{47EFA16F-61E8-404C-840D-A8AE44F51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60" name="Freeform 40">
                <a:extLst>
                  <a:ext uri="{FF2B5EF4-FFF2-40B4-BE49-F238E27FC236}">
                    <a16:creationId xmlns:a16="http://schemas.microsoft.com/office/drawing/2014/main" id="{09E4A29B-6AEB-4F87-9189-F506B278A7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61" name="Rectangle 41">
                <a:extLst>
                  <a:ext uri="{FF2B5EF4-FFF2-40B4-BE49-F238E27FC236}">
                    <a16:creationId xmlns:a16="http://schemas.microsoft.com/office/drawing/2014/main" id="{338E5AEE-F711-46EB-9890-E720C8B852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grpSp>
      <p:sp>
        <p:nvSpPr>
          <p:cNvPr id="2" name="Title 1"/>
          <p:cNvSpPr>
            <a:spLocks noGrp="1"/>
          </p:cNvSpPr>
          <p:nvPr>
            <p:ph type="ctrTitle"/>
          </p:nvPr>
        </p:nvSpPr>
        <p:spPr>
          <a:xfrm>
            <a:off x="2000250" y="2328334"/>
            <a:ext cx="5143500" cy="1367896"/>
          </a:xfrm>
        </p:spPr>
        <p:txBody>
          <a:bodyPr>
            <a:normAutofit/>
          </a:bodyPr>
          <a:lstStyle/>
          <a:p>
            <a:pPr algn="ctr"/>
            <a:r>
              <a:rPr lang="en-US" sz="3400"/>
              <a:t>Quantum Teleportation Simulation</a:t>
            </a:r>
          </a:p>
        </p:txBody>
      </p:sp>
      <p:sp>
        <p:nvSpPr>
          <p:cNvPr id="3" name="Subtitle 2"/>
          <p:cNvSpPr>
            <a:spLocks noGrp="1"/>
          </p:cNvSpPr>
          <p:nvPr>
            <p:ph type="subTitle" idx="1"/>
          </p:nvPr>
        </p:nvSpPr>
        <p:spPr>
          <a:xfrm>
            <a:off x="2000250" y="3602038"/>
            <a:ext cx="5143500" cy="953029"/>
          </a:xfrm>
        </p:spPr>
        <p:txBody>
          <a:bodyPr>
            <a:normAutofit/>
          </a:bodyPr>
          <a:lstStyle/>
          <a:p>
            <a:pPr algn="ctr"/>
            <a:r>
              <a:rPr lang="de-DE"/>
              <a:t>Aiden Rader • Daniel Geise • Rafael Sanches Gambim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4" name="Group 83">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9399" y="0"/>
            <a:ext cx="448867" cy="1981201"/>
            <a:chOff x="194733" y="0"/>
            <a:chExt cx="598488" cy="1981201"/>
          </a:xfrm>
        </p:grpSpPr>
        <p:sp>
          <p:nvSpPr>
            <p:cNvPr id="85"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86"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87"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88"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89"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90"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92" name="Group 91">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14134" y="0"/>
            <a:ext cx="488156" cy="1730375"/>
            <a:chOff x="11347978" y="0"/>
            <a:chExt cx="650875" cy="1730375"/>
          </a:xfrm>
        </p:grpSpPr>
        <p:sp>
          <p:nvSpPr>
            <p:cNvPr id="93"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94"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95"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96"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98" name="Group 97">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30200" y="5118101"/>
            <a:ext cx="488156" cy="1730375"/>
            <a:chOff x="118533" y="5118101"/>
            <a:chExt cx="650875" cy="1730375"/>
          </a:xfrm>
        </p:grpSpPr>
        <p:sp>
          <p:nvSpPr>
            <p:cNvPr id="99"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100"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101"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02"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104" name="Group 103">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22063" y="4867275"/>
            <a:ext cx="448867" cy="1981201"/>
            <a:chOff x="11424178" y="4867275"/>
            <a:chExt cx="598488" cy="1981201"/>
          </a:xfrm>
        </p:grpSpPr>
        <p:sp>
          <p:nvSpPr>
            <p:cNvPr id="105"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06"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07"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08"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09"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10"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112" name="Rectangle 111">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2150" y="766234"/>
            <a:ext cx="7759699"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83083" y="1168078"/>
            <a:ext cx="6786165" cy="1092200"/>
          </a:xfrm>
        </p:spPr>
        <p:txBody>
          <a:bodyPr anchor="ctr">
            <a:normAutofit/>
          </a:bodyPr>
          <a:lstStyle/>
          <a:p>
            <a:pPr algn="ctr"/>
            <a:r>
              <a:rPr lang="en-US">
                <a:solidFill>
                  <a:srgbClr val="FFFFFF"/>
                </a:solidFill>
              </a:rPr>
              <a:t>Project Overview</a:t>
            </a:r>
          </a:p>
        </p:txBody>
      </p:sp>
      <p:sp>
        <p:nvSpPr>
          <p:cNvPr id="3" name="Content Placeholder 2"/>
          <p:cNvSpPr>
            <a:spLocks noGrp="1"/>
          </p:cNvSpPr>
          <p:nvPr>
            <p:ph idx="1"/>
          </p:nvPr>
        </p:nvSpPr>
        <p:spPr>
          <a:xfrm>
            <a:off x="1183084" y="2413001"/>
            <a:ext cx="6786164" cy="3033180"/>
          </a:xfrm>
        </p:spPr>
        <p:txBody>
          <a:bodyPr anchor="ctr">
            <a:normAutofit/>
          </a:bodyPr>
          <a:lstStyle/>
          <a:p>
            <a:endParaRPr lang="en-US" sz="1700">
              <a:solidFill>
                <a:srgbClr val="FFFFFF"/>
              </a:solidFill>
            </a:endParaRPr>
          </a:p>
          <a:p>
            <a:r>
              <a:rPr lang="en-US" sz="1700">
                <a:solidFill>
                  <a:srgbClr val="FFFFFF"/>
                </a:solidFill>
              </a:rPr>
              <a:t>Implemented standard quantum teleportation protocol</a:t>
            </a:r>
          </a:p>
          <a:p>
            <a:r>
              <a:rPr lang="en-US" sz="1700">
                <a:solidFill>
                  <a:srgbClr val="FFFFFF"/>
                </a:solidFill>
              </a:rPr>
              <a:t>Tested four representative qubit states (|0&gt;, |1&gt;, |+&gt;, |−&gt;)</a:t>
            </a:r>
          </a:p>
          <a:p>
            <a:r>
              <a:rPr lang="en-US" sz="1700">
                <a:solidFill>
                  <a:srgbClr val="FFFFFF"/>
                </a:solidFill>
              </a:rPr>
              <a:t>Compared ideal simulation vs real IBM hardware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26" name="Rectangle 125">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8" name="Group 127">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9399" y="0"/>
            <a:ext cx="448867" cy="1981201"/>
            <a:chOff x="194733" y="0"/>
            <a:chExt cx="598488" cy="1981201"/>
          </a:xfrm>
        </p:grpSpPr>
        <p:sp>
          <p:nvSpPr>
            <p:cNvPr id="129"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30"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1"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32"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33"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34"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36" name="Group 135">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14134" y="0"/>
            <a:ext cx="488156" cy="1730375"/>
            <a:chOff x="11347978" y="0"/>
            <a:chExt cx="650875" cy="1730375"/>
          </a:xfrm>
        </p:grpSpPr>
        <p:sp>
          <p:nvSpPr>
            <p:cNvPr id="137"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138"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139"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0"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142" name="Group 141">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30200" y="5118101"/>
            <a:ext cx="488156" cy="1730375"/>
            <a:chOff x="118533" y="5118101"/>
            <a:chExt cx="650875" cy="1730375"/>
          </a:xfrm>
        </p:grpSpPr>
        <p:sp>
          <p:nvSpPr>
            <p:cNvPr id="143"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144"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145"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6"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148" name="Group 147">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22063" y="4867275"/>
            <a:ext cx="448867" cy="1981201"/>
            <a:chOff x="11424178" y="4867275"/>
            <a:chExt cx="598488" cy="1981201"/>
          </a:xfrm>
        </p:grpSpPr>
        <p:sp>
          <p:nvSpPr>
            <p:cNvPr id="149"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50"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51"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52"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3"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54"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156" name="Rectangle 155">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2150" y="766234"/>
            <a:ext cx="7759699"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83083" y="1168078"/>
            <a:ext cx="6786165" cy="1092200"/>
          </a:xfrm>
        </p:spPr>
        <p:txBody>
          <a:bodyPr anchor="ctr">
            <a:normAutofit/>
          </a:bodyPr>
          <a:lstStyle/>
          <a:p>
            <a:pPr algn="ctr"/>
            <a:r>
              <a:rPr lang="en-US">
                <a:solidFill>
                  <a:srgbClr val="FFFFFF"/>
                </a:solidFill>
              </a:rPr>
              <a:t>Research Questions</a:t>
            </a:r>
          </a:p>
        </p:txBody>
      </p:sp>
      <p:sp>
        <p:nvSpPr>
          <p:cNvPr id="3" name="Content Placeholder 2"/>
          <p:cNvSpPr>
            <a:spLocks noGrp="1"/>
          </p:cNvSpPr>
          <p:nvPr>
            <p:ph idx="1"/>
          </p:nvPr>
        </p:nvSpPr>
        <p:spPr>
          <a:xfrm>
            <a:off x="1183084" y="2413001"/>
            <a:ext cx="6786164" cy="3033180"/>
          </a:xfrm>
        </p:spPr>
        <p:txBody>
          <a:bodyPr anchor="ctr">
            <a:normAutofit/>
          </a:bodyPr>
          <a:lstStyle/>
          <a:p>
            <a:endParaRPr lang="en-US" sz="1700">
              <a:solidFill>
                <a:srgbClr val="FFFFFF"/>
              </a:solidFill>
            </a:endParaRPr>
          </a:p>
          <a:p>
            <a:r>
              <a:rPr lang="en-US" sz="1700">
                <a:solidFill>
                  <a:srgbClr val="FFFFFF"/>
                </a:solidFill>
              </a:rPr>
              <a:t>How does fidelity vary across different input states?</a:t>
            </a:r>
          </a:p>
          <a:p>
            <a:r>
              <a:rPr lang="en-US" sz="1700">
                <a:solidFill>
                  <a:srgbClr val="FFFFFF"/>
                </a:solidFill>
              </a:rPr>
              <a:t>How does hardware noise impact teleportation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9399" y="0"/>
            <a:ext cx="448867"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14134" y="0"/>
            <a:ext cx="488156"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30200" y="5118101"/>
            <a:ext cx="488156"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22063" y="4867275"/>
            <a:ext cx="448867"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2150" y="766234"/>
            <a:ext cx="7759699"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83083" y="1168078"/>
            <a:ext cx="6786165" cy="1092200"/>
          </a:xfrm>
        </p:spPr>
        <p:txBody>
          <a:bodyPr anchor="ctr">
            <a:normAutofit/>
          </a:bodyPr>
          <a:lstStyle/>
          <a:p>
            <a:pPr algn="ctr"/>
            <a:r>
              <a:rPr lang="en-US">
                <a:solidFill>
                  <a:srgbClr val="FFFFFF"/>
                </a:solidFill>
              </a:rPr>
              <a:t>Methodology</a:t>
            </a:r>
          </a:p>
        </p:txBody>
      </p:sp>
      <p:sp>
        <p:nvSpPr>
          <p:cNvPr id="3" name="Content Placeholder 2"/>
          <p:cNvSpPr>
            <a:spLocks noGrp="1"/>
          </p:cNvSpPr>
          <p:nvPr>
            <p:ph idx="1"/>
          </p:nvPr>
        </p:nvSpPr>
        <p:spPr>
          <a:xfrm>
            <a:off x="1183084" y="2413001"/>
            <a:ext cx="6786164" cy="3033180"/>
          </a:xfrm>
        </p:spPr>
        <p:txBody>
          <a:bodyPr anchor="ctr">
            <a:normAutofit/>
          </a:bodyPr>
          <a:lstStyle/>
          <a:p>
            <a:endParaRPr lang="en-US" sz="1700">
              <a:solidFill>
                <a:srgbClr val="FFFFFF"/>
              </a:solidFill>
            </a:endParaRPr>
          </a:p>
          <a:p>
            <a:r>
              <a:rPr lang="en-US" sz="1700">
                <a:solidFill>
                  <a:srgbClr val="FFFFFF"/>
                </a:solidFill>
              </a:rPr>
              <a:t>Qiskit-based modular teleportation module</a:t>
            </a:r>
          </a:p>
          <a:p>
            <a:r>
              <a:rPr lang="en-US" sz="1700">
                <a:solidFill>
                  <a:srgbClr val="FFFFFF"/>
                </a:solidFill>
              </a:rPr>
              <a:t>State preparation functions for |0&gt;, |1&gt;, |+&gt;, |−&gt;</a:t>
            </a:r>
          </a:p>
          <a:p>
            <a:r>
              <a:rPr lang="en-US" sz="1700">
                <a:solidFill>
                  <a:srgbClr val="FFFFFF"/>
                </a:solidFill>
              </a:rPr>
              <a:t>Unitary-based correction instead of classical control</a:t>
            </a:r>
          </a:p>
          <a:p>
            <a:r>
              <a:rPr lang="en-US" sz="1700">
                <a:solidFill>
                  <a:srgbClr val="FFFFFF"/>
                </a:solidFill>
              </a:rPr>
              <a:t>Fidelity via partial trace + state_fidelity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9399" y="0"/>
            <a:ext cx="448867"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14134" y="0"/>
            <a:ext cx="488156"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30200" y="5118101"/>
            <a:ext cx="488156"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22063" y="4867275"/>
            <a:ext cx="448867"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2150" y="766234"/>
            <a:ext cx="7759699"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83083" y="1168078"/>
            <a:ext cx="6786165" cy="1092200"/>
          </a:xfrm>
        </p:spPr>
        <p:txBody>
          <a:bodyPr anchor="ctr">
            <a:normAutofit/>
          </a:bodyPr>
          <a:lstStyle/>
          <a:p>
            <a:pPr algn="ctr"/>
            <a:r>
              <a:rPr lang="en-US">
                <a:solidFill>
                  <a:srgbClr val="FFFFFF"/>
                </a:solidFill>
              </a:rPr>
              <a:t>Teleportation Protocol</a:t>
            </a:r>
          </a:p>
        </p:txBody>
      </p:sp>
      <p:sp>
        <p:nvSpPr>
          <p:cNvPr id="3" name="Content Placeholder 2"/>
          <p:cNvSpPr>
            <a:spLocks noGrp="1"/>
          </p:cNvSpPr>
          <p:nvPr>
            <p:ph idx="1"/>
          </p:nvPr>
        </p:nvSpPr>
        <p:spPr>
          <a:xfrm>
            <a:off x="1183084" y="2413001"/>
            <a:ext cx="6786164" cy="3033180"/>
          </a:xfrm>
        </p:spPr>
        <p:txBody>
          <a:bodyPr anchor="ctr">
            <a:normAutofit/>
          </a:bodyPr>
          <a:lstStyle/>
          <a:p>
            <a:endParaRPr lang="en-US" sz="1700">
              <a:solidFill>
                <a:srgbClr val="FFFFFF"/>
              </a:solidFill>
            </a:endParaRPr>
          </a:p>
          <a:p>
            <a:r>
              <a:rPr lang="en-US" sz="1700">
                <a:solidFill>
                  <a:srgbClr val="FFFFFF"/>
                </a:solidFill>
              </a:rPr>
              <a:t>Prepare unknown input state on q0</a:t>
            </a:r>
          </a:p>
          <a:p>
            <a:r>
              <a:rPr lang="en-US" sz="1700">
                <a:solidFill>
                  <a:srgbClr val="FFFFFF"/>
                </a:solidFill>
              </a:rPr>
              <a:t>Create Bell pair between q1 and q2</a:t>
            </a:r>
          </a:p>
          <a:p>
            <a:r>
              <a:rPr lang="en-US" sz="1700">
                <a:solidFill>
                  <a:srgbClr val="FFFFFF"/>
                </a:solidFill>
              </a:rPr>
              <a:t>Alice performs CNOT + Hadamard (Bell basis)</a:t>
            </a:r>
          </a:p>
          <a:p>
            <a:r>
              <a:rPr lang="en-US" sz="1700">
                <a:solidFill>
                  <a:srgbClr val="FFFFFF"/>
                </a:solidFill>
              </a:rPr>
              <a:t>Bob applies correction operations</a:t>
            </a:r>
          </a:p>
        </p:txBody>
      </p:sp>
      <p:pic>
        <p:nvPicPr>
          <p:cNvPr id="4" name="Picture 3" descr="A screenshot of a computer&#10;&#10;AI-generated content may be incorrect.">
            <a:extLst>
              <a:ext uri="{FF2B5EF4-FFF2-40B4-BE49-F238E27FC236}">
                <a16:creationId xmlns:a16="http://schemas.microsoft.com/office/drawing/2014/main" id="{1499B746-263B-AF03-3784-2870D57F8D5D}"/>
              </a:ext>
            </a:extLst>
          </p:cNvPr>
          <p:cNvPicPr>
            <a:picLocks noChangeAspect="1"/>
          </p:cNvPicPr>
          <p:nvPr/>
        </p:nvPicPr>
        <p:blipFill>
          <a:blip r:embed="rId4"/>
          <a:stretch>
            <a:fillRect/>
          </a:stretch>
        </p:blipFill>
        <p:spPr>
          <a:xfrm>
            <a:off x="0" y="0"/>
            <a:ext cx="9144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9399" y="0"/>
            <a:ext cx="448867"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14134" y="0"/>
            <a:ext cx="488156"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30200" y="5118101"/>
            <a:ext cx="488156"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22063" y="4867275"/>
            <a:ext cx="448867"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2150" y="766234"/>
            <a:ext cx="7759699"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83083" y="1168078"/>
            <a:ext cx="6786165" cy="1092200"/>
          </a:xfrm>
        </p:spPr>
        <p:txBody>
          <a:bodyPr anchor="ctr">
            <a:normAutofit/>
          </a:bodyPr>
          <a:lstStyle/>
          <a:p>
            <a:pPr algn="ctr"/>
            <a:r>
              <a:rPr lang="en-US">
                <a:solidFill>
                  <a:srgbClr val="FFFFFF"/>
                </a:solidFill>
              </a:rPr>
              <a:t>Hardware Results</a:t>
            </a:r>
          </a:p>
        </p:txBody>
      </p:sp>
      <p:sp>
        <p:nvSpPr>
          <p:cNvPr id="3" name="Content Placeholder 2"/>
          <p:cNvSpPr>
            <a:spLocks noGrp="1"/>
          </p:cNvSpPr>
          <p:nvPr>
            <p:ph idx="1"/>
          </p:nvPr>
        </p:nvSpPr>
        <p:spPr>
          <a:xfrm>
            <a:off x="1183084" y="2413001"/>
            <a:ext cx="6786164" cy="3033180"/>
          </a:xfrm>
        </p:spPr>
        <p:txBody>
          <a:bodyPr anchor="ctr">
            <a:normAutofit/>
          </a:bodyPr>
          <a:lstStyle/>
          <a:p>
            <a:endParaRPr lang="en-US" sz="1700">
              <a:solidFill>
                <a:srgbClr val="FFFFFF"/>
              </a:solidFill>
            </a:endParaRPr>
          </a:p>
          <a:p>
            <a:r>
              <a:rPr lang="en-US" sz="1700">
                <a:solidFill>
                  <a:srgbClr val="FFFFFF"/>
                </a:solidFill>
              </a:rPr>
              <a:t>Fidelity dropped to ~0.50 for all states</a:t>
            </a:r>
          </a:p>
          <a:p>
            <a:r>
              <a:rPr lang="en-US" sz="1700">
                <a:solidFill>
                  <a:srgbClr val="FFFFFF"/>
                </a:solidFill>
              </a:rPr>
              <a:t>Noise from decoherence, gate errors, readout</a:t>
            </a:r>
          </a:p>
          <a:p>
            <a:r>
              <a:rPr lang="en-US" sz="1700">
                <a:solidFill>
                  <a:srgbClr val="FFFFFF"/>
                </a:solidFill>
              </a:rPr>
              <a:t>Two‑qubit gates heavily affect performance</a:t>
            </a:r>
          </a:p>
          <a:p>
            <a:r>
              <a:rPr lang="en-US" sz="1700">
                <a:solidFill>
                  <a:srgbClr val="FFFFFF"/>
                </a:solidFill>
              </a:rPr>
              <a:t>4096‑shot sampling per experiment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9399" y="0"/>
            <a:ext cx="448867" cy="1981201"/>
            <a:chOff x="194733" y="0"/>
            <a:chExt cx="598488" cy="1981201"/>
          </a:xfrm>
        </p:grpSpPr>
        <p:sp>
          <p:nvSpPr>
            <p:cNvPr id="100"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14134" y="0"/>
            <a:ext cx="488156"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30200" y="5118101"/>
            <a:ext cx="488156"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422063" y="4867275"/>
            <a:ext cx="448867"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2150" y="766234"/>
            <a:ext cx="7759699"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83083" y="1168078"/>
            <a:ext cx="6786165" cy="1092200"/>
          </a:xfrm>
        </p:spPr>
        <p:txBody>
          <a:bodyPr anchor="ctr">
            <a:normAutofit/>
          </a:bodyPr>
          <a:lstStyle/>
          <a:p>
            <a:pPr algn="ctr"/>
            <a:r>
              <a:rPr lang="en-US">
                <a:solidFill>
                  <a:srgbClr val="FFFFFF"/>
                </a:solidFill>
              </a:rPr>
              <a:t>Analysis</a:t>
            </a:r>
          </a:p>
        </p:txBody>
      </p:sp>
      <p:sp>
        <p:nvSpPr>
          <p:cNvPr id="3" name="Content Placeholder 2"/>
          <p:cNvSpPr>
            <a:spLocks noGrp="1"/>
          </p:cNvSpPr>
          <p:nvPr>
            <p:ph idx="1"/>
          </p:nvPr>
        </p:nvSpPr>
        <p:spPr>
          <a:xfrm>
            <a:off x="1183084" y="2413001"/>
            <a:ext cx="6786164" cy="3033180"/>
          </a:xfrm>
        </p:spPr>
        <p:txBody>
          <a:bodyPr anchor="ctr">
            <a:normAutofit/>
          </a:bodyPr>
          <a:lstStyle/>
          <a:p>
            <a:endParaRPr lang="en-US" sz="1700">
              <a:solidFill>
                <a:srgbClr val="FFFFFF"/>
              </a:solidFill>
            </a:endParaRPr>
          </a:p>
          <a:p>
            <a:r>
              <a:rPr lang="en-US" sz="1700">
                <a:solidFill>
                  <a:srgbClr val="FFFFFF"/>
                </a:solidFill>
              </a:rPr>
              <a:t>Hardware limitations dominate, not input-state dependence</a:t>
            </a:r>
          </a:p>
          <a:p>
            <a:r>
              <a:rPr lang="en-US" sz="1700">
                <a:solidFill>
                  <a:srgbClr val="FFFFFF"/>
                </a:solidFill>
              </a:rPr>
              <a:t>Teleportation theoretically robust but practically noisy</a:t>
            </a:r>
          </a:p>
          <a:p>
            <a:r>
              <a:rPr lang="en-US" sz="1700">
                <a:solidFill>
                  <a:srgbClr val="FFFFFF"/>
                </a:solidFill>
              </a:rPr>
              <a:t>Shows gap between ideal quantum communication and current hardware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1375F2-60B1-44ED-B60A-019C4BD5A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856059" y="618518"/>
            <a:ext cx="7429499" cy="1478570"/>
          </a:xfrm>
        </p:spPr>
        <p:txBody>
          <a:bodyPr>
            <a:normAutofit/>
          </a:bodyPr>
          <a:lstStyle/>
          <a:p>
            <a:r>
              <a:t>Conclusion</a:t>
            </a:r>
          </a:p>
        </p:txBody>
      </p:sp>
      <p:sp>
        <p:nvSpPr>
          <p:cNvPr id="3" name="Content Placeholder 2"/>
          <p:cNvSpPr>
            <a:spLocks noGrp="1"/>
          </p:cNvSpPr>
          <p:nvPr>
            <p:ph idx="1"/>
          </p:nvPr>
        </p:nvSpPr>
        <p:spPr>
          <a:xfrm>
            <a:off x="856059" y="2249487"/>
            <a:ext cx="7429499" cy="3541714"/>
          </a:xfrm>
        </p:spPr>
        <p:txBody>
          <a:bodyPr>
            <a:normAutofit/>
          </a:bodyPr>
          <a:lstStyle/>
          <a:p>
            <a:endParaRPr/>
          </a:p>
          <a:p>
            <a:r>
              <a:t>Protocol works perfectly in simulation</a:t>
            </a:r>
          </a:p>
          <a:p>
            <a:r>
              <a:t>Real hardware adds significant noise</a:t>
            </a:r>
          </a:p>
          <a:p>
            <a:r>
              <a:t>Future hardware improvements needed for reliable teleportation</a:t>
            </a:r>
          </a:p>
        </p:txBody>
      </p:sp>
      <p:grpSp>
        <p:nvGrpSpPr>
          <p:cNvPr id="39" name="Group 38">
            <a:extLst>
              <a:ext uri="{FF2B5EF4-FFF2-40B4-BE49-F238E27FC236}">
                <a16:creationId xmlns:a16="http://schemas.microsoft.com/office/drawing/2014/main" id="{B485B3F6-654D-4842-A2DE-677D12FED4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23684" y="0"/>
            <a:ext cx="506016"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40" name="Freeform 32">
              <a:extLst>
                <a:ext uri="{FF2B5EF4-FFF2-40B4-BE49-F238E27FC236}">
                  <a16:creationId xmlns:a16="http://schemas.microsoft.com/office/drawing/2014/main" id="{BF4365F4-C63C-4FC2-907B-1F7D414B9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1" name="Freeform 33">
              <a:extLst>
                <a:ext uri="{FF2B5EF4-FFF2-40B4-BE49-F238E27FC236}">
                  <a16:creationId xmlns:a16="http://schemas.microsoft.com/office/drawing/2014/main" id="{B0538225-01AB-41C4-9A02-FE1BD81D6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34">
              <a:extLst>
                <a:ext uri="{FF2B5EF4-FFF2-40B4-BE49-F238E27FC236}">
                  <a16:creationId xmlns:a16="http://schemas.microsoft.com/office/drawing/2014/main" id="{66942F07-D7CC-49EB-BF73-8B94D5F4FC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5">
              <a:extLst>
                <a:ext uri="{FF2B5EF4-FFF2-40B4-BE49-F238E27FC236}">
                  <a16:creationId xmlns:a16="http://schemas.microsoft.com/office/drawing/2014/main" id="{4D3CACE0-3AC7-4A9F-9A3F-1694ACCD4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36">
              <a:extLst>
                <a:ext uri="{FF2B5EF4-FFF2-40B4-BE49-F238E27FC236}">
                  <a16:creationId xmlns:a16="http://schemas.microsoft.com/office/drawing/2014/main" id="{19063B47-FBFB-4EA1-A3FB-BECE005F48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37">
              <a:extLst>
                <a:ext uri="{FF2B5EF4-FFF2-40B4-BE49-F238E27FC236}">
                  <a16:creationId xmlns:a16="http://schemas.microsoft.com/office/drawing/2014/main" id="{B856863B-C809-4C31-94D0-659A91851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8">
              <a:extLst>
                <a:ext uri="{FF2B5EF4-FFF2-40B4-BE49-F238E27FC236}">
                  <a16:creationId xmlns:a16="http://schemas.microsoft.com/office/drawing/2014/main" id="{298CB3D7-7373-4AC6-9E2C-4AFDDE2802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9">
              <a:extLst>
                <a:ext uri="{FF2B5EF4-FFF2-40B4-BE49-F238E27FC236}">
                  <a16:creationId xmlns:a16="http://schemas.microsoft.com/office/drawing/2014/main" id="{7DE09F1B-2326-4ED3-B63B-A30815DD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40">
              <a:extLst>
                <a:ext uri="{FF2B5EF4-FFF2-40B4-BE49-F238E27FC236}">
                  <a16:creationId xmlns:a16="http://schemas.microsoft.com/office/drawing/2014/main" id="{2498F244-3CE6-4D90-B5CF-5189DB17D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Rectangle 41">
              <a:extLst>
                <a:ext uri="{FF2B5EF4-FFF2-40B4-BE49-F238E27FC236}">
                  <a16:creationId xmlns:a16="http://schemas.microsoft.com/office/drawing/2014/main" id="{9A30DD13-FA10-4B9F-8B4D-97B7287B82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7222FE2C97B664B85E6B321103E7C81" ma:contentTypeVersion="13" ma:contentTypeDescription="Create a new document." ma:contentTypeScope="" ma:versionID="cca02a9c0d4a4596c57b5933a24e7acc">
  <xsd:schema xmlns:xsd="http://www.w3.org/2001/XMLSchema" xmlns:xs="http://www.w3.org/2001/XMLSchema" xmlns:p="http://schemas.microsoft.com/office/2006/metadata/properties" xmlns:ns3="13454170-7167-490d-acc8-9f4e718231d5" xmlns:ns4="ed2eae01-ad6f-42f1-9b52-acc167b27e74" targetNamespace="http://schemas.microsoft.com/office/2006/metadata/properties" ma:root="true" ma:fieldsID="733f0c8657e4e79dd769e82dec636019" ns3:_="" ns4:_="">
    <xsd:import namespace="13454170-7167-490d-acc8-9f4e718231d5"/>
    <xsd:import namespace="ed2eae01-ad6f-42f1-9b52-acc167b27e7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454170-7167-490d-acc8-9f4e71823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2eae01-ad6f-42f1-9b52-acc167b27e7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3454170-7167-490d-acc8-9f4e718231d5" xsi:nil="true"/>
  </documentManagement>
</p:properties>
</file>

<file path=customXml/itemProps1.xml><?xml version="1.0" encoding="utf-8"?>
<ds:datastoreItem xmlns:ds="http://schemas.openxmlformats.org/officeDocument/2006/customXml" ds:itemID="{74948A12-D358-4ECA-9BD8-31FF0B2820CC}">
  <ds:schemaRefs>
    <ds:schemaRef ds:uri="http://schemas.microsoft.com/sharepoint/v3/contenttype/forms"/>
  </ds:schemaRefs>
</ds:datastoreItem>
</file>

<file path=customXml/itemProps2.xml><?xml version="1.0" encoding="utf-8"?>
<ds:datastoreItem xmlns:ds="http://schemas.openxmlformats.org/officeDocument/2006/customXml" ds:itemID="{213C0089-EE23-4745-B735-F7EE0FEBEA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454170-7167-490d-acc8-9f4e718231d5"/>
    <ds:schemaRef ds:uri="ed2eae01-ad6f-42f1-9b52-acc167b27e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4C7529-5B55-4EA7-A01F-2AAEBB05CEED}">
  <ds:schemaRefs>
    <ds:schemaRef ds:uri="ed2eae01-ad6f-42f1-9b52-acc167b27e74"/>
    <ds:schemaRef ds:uri="http://schemas.openxmlformats.org/package/2006/metadata/core-properties"/>
    <ds:schemaRef ds:uri="http://purl.org/dc/elements/1.1/"/>
    <ds:schemaRef ds:uri="http://purl.org/dc/terms/"/>
    <ds:schemaRef ds:uri="http://schemas.microsoft.com/office/2006/documentManagement/types"/>
    <ds:schemaRef ds:uri="http://purl.org/dc/dcmitype/"/>
    <ds:schemaRef ds:uri="13454170-7167-490d-acc8-9f4e718231d5"/>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TM04033919[[fn=Circuit]]</Template>
  <TotalTime>64</TotalTime>
  <Words>728</Words>
  <Application>Microsoft Office PowerPoint</Application>
  <PresentationFormat>On-screen Show (4:3)</PresentationFormat>
  <Paragraphs>62</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Circuit</vt:lpstr>
      <vt:lpstr>Quantum Teleportation Simulation</vt:lpstr>
      <vt:lpstr>Project Overview</vt:lpstr>
      <vt:lpstr>Research Questions</vt:lpstr>
      <vt:lpstr>Methodology</vt:lpstr>
      <vt:lpstr>Teleportation Protocol</vt:lpstr>
      <vt:lpstr>Hardware Results</vt:lpstr>
      <vt:lpstr>Analysis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Daniel</dc:creator>
  <cp:keywords/>
  <dc:description>generated using python-pptx</dc:description>
  <cp:lastModifiedBy>Geise, Daniel S</cp:lastModifiedBy>
  <cp:revision>8</cp:revision>
  <dcterms:created xsi:type="dcterms:W3CDTF">2013-01-27T09:14:16Z</dcterms:created>
  <dcterms:modified xsi:type="dcterms:W3CDTF">2025-12-02T13:34:12Z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0x010100C7222FE2C97B664B85E6B321103E7C81</vt:lpwstr>
  </property>
</Properties>
</file>